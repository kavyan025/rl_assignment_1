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7" r:id="rId28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05840"/>
            <a:ext cx="7772400" cy="1828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REINFORCEMENT</a:t>
            </a:r>
          </a:p>
          <a:p>
            <a:pPr>
              <a:spcAft>
                <a:spcPts val="600"/>
              </a:spcAft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063240"/>
            <a:ext cx="987552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199691"/>
                </a:solidFill>
                <a:latin typeface="Aptos"/>
              </a:defRPr>
            </a:pPr>
            <a:r>
              <a:t>ASSIGNMENT 1  |  MARKOV DECISION PROCESSES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794760"/>
            <a:ext cx="777240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  <a:defRPr sz="2500" b="0">
                <a:solidFill>
                  <a:srgbClr val="FFFFFF"/>
                </a:solidFill>
                <a:latin typeface="Aptos"/>
              </a:defRPr>
            </a:pPr>
            <a:r>
              <a:t>4×4 Frozen Lake Gridworld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074920"/>
            <a:ext cx="9601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Submitted by: Kavya Namburi  •  BT23CSE004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577840"/>
            <a:ext cx="105156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CDDCE8"/>
                </a:solidFill>
                <a:latin typeface="Aptos"/>
              </a:defRPr>
            </a:pPr>
            <a:r>
              <a:t>Parts 1–5 • Code-backed numerical results • Convergence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11430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978"/>
                </a:solidFill>
              </a:defRPr>
            </a:pPr>
            <a:r>
              <a:t>RL Assignment 1 • Kavya Namburi • BT23CSE004                            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rIns="228600"/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Assignment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2296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978"/>
                </a:solidFill>
              </a:defRPr>
            </a:pPr>
            <a:r>
              <a:t>All five parts from the assignment are covered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37960"/>
            <a:ext cx="11430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978"/>
                </a:solidFill>
              </a:defRPr>
            </a:pPr>
            <a:r>
              <a:t>RL Assignment 1 • Kavya Namburi • BT23CSE004                                     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303F"/>
                </a:solidFill>
                <a:latin typeface="Aptos"/>
              </a:defRPr>
            </a:pPr>
            <a:r>
              <a:t>• Part 1 — Define the MDP and justify finite, episodic, fully observed.</a:t>
            </a:r>
          </a:p>
          <a:p>
            <a:pPr>
              <a:spcAft>
                <a:spcPts val="1200"/>
              </a:spcAft>
              <a:defRPr sz="1800">
                <a:solidFill>
                  <a:srgbClr val="23303F"/>
                </a:solidFill>
                <a:latin typeface="Aptos"/>
              </a:defRPr>
            </a:pPr>
            <a:r>
              <a:t>• Part 2 — Evaluate the uniform random policy, verify two manual iterations, plot convergence, calculate Qπ(s,a).</a:t>
            </a:r>
          </a:p>
          <a:p>
            <a:pPr>
              <a:spcAft>
                <a:spcPts val="1200"/>
              </a:spcAft>
              <a:defRPr sz="1800">
                <a:solidFill>
                  <a:srgbClr val="23303F"/>
                </a:solidFill>
                <a:latin typeface="Aptos"/>
              </a:defRPr>
            </a:pPr>
            <a:r>
              <a:t>• Part 3 — Run policy iteration and value iteration; compare policies and contraction behavior.</a:t>
            </a:r>
          </a:p>
          <a:p>
            <a:pPr>
              <a:spcAft>
                <a:spcPts val="1200"/>
              </a:spcAft>
              <a:defRPr sz="1800">
                <a:solidFill>
                  <a:srgbClr val="23303F"/>
                </a:solidFill>
                <a:latin typeface="Aptos"/>
              </a:defRPr>
            </a:pPr>
            <a:r>
              <a:t>• Part 4 — Solve policy evaluation by linear algebra and compare against iterative evaluation.</a:t>
            </a:r>
          </a:p>
          <a:p>
            <a:pPr>
              <a:spcAft>
                <a:spcPts val="1200"/>
              </a:spcAft>
              <a:defRPr sz="1800">
                <a:solidFill>
                  <a:srgbClr val="23303F"/>
                </a:solidFill>
                <a:latin typeface="Aptos"/>
              </a:defRPr>
            </a:pPr>
            <a:r>
              <a:t>• Part 5 — Test γ = 0.5 and 0.999, change the living reward to zero, and discuss model-free learning.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rIns="228600"/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Part 1 — Grid and state numbering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2296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978"/>
                </a:solidFill>
              </a:defRPr>
            </a:pPr>
            <a:r>
              <a:t>The same grid is used in all 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37960"/>
            <a:ext cx="11430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978"/>
                </a:solidFill>
              </a:defRPr>
            </a:pPr>
            <a:r>
              <a:t>RL Assignment 1 • Kavya Namburi • BT23CSE004                                     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6492240" cy="34747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23303F"/>
                </a:solidFill>
                <a:latin typeface="Consolas"/>
              </a:defRPr>
            </a:pPr>
            <a:r>
              <a:t>S (0)    H (1)    F (2)    F (3)</a:t>
            </a:r>
          </a:p>
          <a:p>
            <a:pPr>
              <a:spcAft>
                <a:spcPts val="600"/>
              </a:spcAft>
              <a:defRPr sz="2200" b="1">
                <a:solidFill>
                  <a:srgbClr val="23303F"/>
                </a:solidFill>
                <a:latin typeface="Consolas"/>
              </a:defRPr>
            </a:pPr>
            <a:r>
              <a:t>F (4)    F (5)    F (6)    H (7)</a:t>
            </a:r>
          </a:p>
          <a:p>
            <a:pPr>
              <a:spcAft>
                <a:spcPts val="600"/>
              </a:spcAft>
              <a:defRPr sz="2200" b="1">
                <a:solidFill>
                  <a:srgbClr val="23303F"/>
                </a:solidFill>
                <a:latin typeface="Consolas"/>
              </a:defRPr>
            </a:pPr>
            <a:r>
              <a:t>H (8)    F (9)    F (10)   F (11)</a:t>
            </a:r>
          </a:p>
          <a:p>
            <a:pPr>
              <a:spcAft>
                <a:spcPts val="600"/>
              </a:spcAft>
              <a:defRPr sz="2200" b="1">
                <a:solidFill>
                  <a:srgbClr val="23303F"/>
                </a:solidFill>
                <a:latin typeface="Consolas"/>
              </a:defRPr>
            </a:pPr>
            <a:r>
              <a:t>F (12)   F (13)   H (14)   G (15)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554480"/>
            <a:ext cx="4114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303F"/>
                </a:solidFill>
                <a:latin typeface="Aptos"/>
              </a:defRPr>
            </a:pPr>
            <a:r>
              <a:t>• Start state: 0</a:t>
            </a:r>
          </a:p>
          <a:p>
            <a:pPr>
              <a:spcAft>
                <a:spcPts val="1200"/>
              </a:spcAft>
              <a:defRPr sz="1700">
                <a:solidFill>
                  <a:srgbClr val="23303F"/>
                </a:solidFill>
                <a:latin typeface="Aptos"/>
              </a:defRPr>
            </a:pPr>
            <a:r>
              <a:t>• Holes: {1, 7, 8, 14}</a:t>
            </a:r>
          </a:p>
          <a:p>
            <a:pPr>
              <a:spcAft>
                <a:spcPts val="1200"/>
              </a:spcAft>
              <a:defRPr sz="1700">
                <a:solidFill>
                  <a:srgbClr val="23303F"/>
                </a:solidFill>
                <a:latin typeface="Aptos"/>
              </a:defRPr>
            </a:pPr>
            <a:r>
              <a:t>• Goal: 15</a:t>
            </a:r>
          </a:p>
          <a:p>
            <a:pPr>
              <a:spcAft>
                <a:spcPts val="1200"/>
              </a:spcAft>
              <a:defRPr sz="1700">
                <a:solidFill>
                  <a:srgbClr val="23303F"/>
                </a:solidFill>
                <a:latin typeface="Aptos"/>
              </a:defRPr>
            </a:pPr>
            <a:r>
              <a:t>• Terminal states: {1, 7, 8, 14, 15}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rIns="228600"/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Part 1 — MDP tuple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2296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978"/>
                </a:solidFill>
              </a:defRPr>
            </a:pPr>
            <a:r>
              <a:t>Model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37960"/>
            <a:ext cx="11430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978"/>
                </a:solidFill>
              </a:defRPr>
            </a:pPr>
            <a:r>
              <a:t>RL Assignment 1 • Kavya Namburi • BT23CSE004                                      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111556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5577840"/>
              </a:tblGrid>
              <a:tr h="705394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 anchor="ctr">
                    <a:solidFill>
                      <a:srgbClr val="1423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 anchor="ctr">
                    <a:solidFill>
                      <a:srgbClr val="14233D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303F"/>
                          </a:solidFill>
                        </a:defRPr>
                      </a:pPr>
                      <a:r>
                        <a:t>S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303F"/>
                          </a:solidFill>
                        </a:defRPr>
                      </a:pPr>
                      <a:r>
                        <a:t>{0, 1, …, 15}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303F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303F"/>
                          </a:solidFill>
                        </a:defRPr>
                      </a:pPr>
                      <a:r>
                        <a:t>{Left, Down, Right, Up}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303F"/>
                          </a:solidFill>
                        </a:defRPr>
                      </a:pPr>
                      <a:r>
                        <a:t>P(s′|s,a)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303F"/>
                          </a:solidFill>
                        </a:defRPr>
                      </a:pPr>
                      <a:r>
                        <a:t>0.25 intended movement; 0.75 stay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303F"/>
                          </a:solidFill>
                        </a:defRPr>
                      </a:pPr>
                      <a:r>
                        <a:t>R(s,a,s′)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303F"/>
                          </a:solidFill>
                        </a:defRPr>
                      </a:pPr>
                      <a:r>
                        <a:t>−0.01 ordinary step/stay; −1 hole; +1 goal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303F"/>
                          </a:solidFill>
                        </a:defRPr>
                      </a:pPr>
                      <a:r>
                        <a:t>γ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303F"/>
                          </a:solidFill>
                        </a:defRPr>
                      </a:pPr>
                      <a:r>
                        <a:t>0.9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</a:tr>
              <a:tr h="705396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303F"/>
                          </a:solidFill>
                        </a:defRPr>
                      </a:pPr>
                      <a:r>
                        <a:t>Terminal convention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303F"/>
                          </a:solidFill>
                        </a:defRPr>
                      </a:pPr>
                      <a:r>
                        <a:t>Holes and goal end the episode; future value is zero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rIns="228600"/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Part 1 — Transition assumption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2296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978"/>
                </a:solidFill>
              </a:defRPr>
            </a:pPr>
            <a:r>
              <a:t>The handout leaves the remaining 0.75 unspecified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37960"/>
            <a:ext cx="11430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978"/>
                </a:solidFill>
              </a:defRPr>
            </a:pPr>
            <a:r>
              <a:t>RL Assignment 1 • Kavya Namburi • BT23CSE004                                     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303F"/>
                </a:solidFill>
                <a:latin typeface="Aptos"/>
              </a:defRPr>
            </a:pPr>
            <a:r>
              <a:t>• Explicit assumption: P(intended movement) = 0.25 and P(stay) = 0.75.</a:t>
            </a:r>
          </a:p>
          <a:p>
            <a:pPr>
              <a:spcAft>
                <a:spcPts val="1200"/>
              </a:spcAft>
              <a:defRPr sz="1700">
                <a:solidFill>
                  <a:srgbClr val="23303F"/>
                </a:solidFill>
                <a:latin typeface="Aptos"/>
              </a:defRPr>
            </a:pPr>
            <a:r>
              <a:t>• If the intended movement would leave the grid, the agent stays in its current cell with probability 1.</a:t>
            </a:r>
          </a:p>
          <a:p>
            <a:pPr>
              <a:spcAft>
                <a:spcPts val="1200"/>
              </a:spcAft>
              <a:defRPr sz="1700">
                <a:solidFill>
                  <a:srgbClr val="23303F"/>
                </a:solidFill>
                <a:latin typeface="Aptos"/>
              </a:defRPr>
            </a:pPr>
            <a:r>
              <a:t>• Rewards are assigned to the resulting state: hole = −1, goal = +1, ordinary transition/stay = −0.01.</a:t>
            </a:r>
          </a:p>
          <a:p>
            <a:pPr>
              <a:spcAft>
                <a:spcPts val="1200"/>
              </a:spcAft>
              <a:defRPr sz="1700">
                <a:solidFill>
                  <a:srgbClr val="23303F"/>
                </a:solidFill>
                <a:latin typeface="Aptos"/>
              </a:defRPr>
            </a:pPr>
            <a:r>
              <a:t>• This assumption is stated openly because it is not fully specified by the assignment text.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257800"/>
            <a:ext cx="1069848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99691"/>
                </a:solidFill>
                <a:latin typeface="Aptos"/>
              </a:defRPr>
            </a:pPr>
            <a:r>
              <a:t>P(s′|s,a) is the environment transition model; π(a|s) is the action-selection policy. They are different probabilities.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rIns="228600"/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Part 1 — MDP properties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2296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978"/>
                </a:solidFill>
              </a:defRPr>
            </a:pPr>
            <a:r>
              <a:t>Finite, episodic, and fully observed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37960"/>
            <a:ext cx="11430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978"/>
                </a:solidFill>
              </a:defRPr>
            </a:pPr>
            <a:r>
              <a:t>RL Assignment 1 • Kavya Namburi • BT23CSE004                                      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111556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123444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Property</a:t>
                      </a:r>
                    </a:p>
                  </a:txBody>
                  <a:tcPr anchor="ctr">
                    <a:solidFill>
                      <a:srgbClr val="1423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Answer</a:t>
                      </a:r>
                    </a:p>
                  </a:txBody>
                  <a:tcPr anchor="ctr">
                    <a:solidFill>
                      <a:srgbClr val="1423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Justification</a:t>
                      </a:r>
                    </a:p>
                  </a:txBody>
                  <a:tcPr anchor="ctr">
                    <a:solidFill>
                      <a:srgbClr val="14233D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303F"/>
                          </a:solidFill>
                        </a:defRPr>
                      </a:pPr>
                      <a:r>
                        <a:t>Finite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303F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303F"/>
                          </a:solidFill>
                        </a:defRPr>
                      </a:pPr>
                      <a:r>
                        <a:t>16 states and 4 actions.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303F"/>
                          </a:solidFill>
                        </a:defRPr>
                      </a:pPr>
                      <a:r>
                        <a:t>Episodic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303F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303F"/>
                          </a:solidFill>
                        </a:defRPr>
                      </a:pPr>
                      <a:r>
                        <a:t>Entering a hole or goal ends the episode.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303F"/>
                          </a:solidFill>
                        </a:defRPr>
                      </a:pPr>
                      <a:r>
                        <a:t>Fully observed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303F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303F"/>
                          </a:solidFill>
                        </a:defRPr>
                      </a:pPr>
                      <a:r>
                        <a:t>The agent directly knows its current grid cell.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rIns="228600"/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Part 2 — Uniform random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2296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978"/>
                </a:solidFill>
              </a:defRPr>
            </a:pPr>
            <a:r>
              <a:t>The policy selects each action with probability 0.25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37960"/>
            <a:ext cx="11430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978"/>
                </a:solidFill>
              </a:defRPr>
            </a:pPr>
            <a:r>
              <a:t>RL Assignment 1 • Kavya Namburi • BT23CSE004                                     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78992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199691"/>
                </a:solidFill>
                <a:latin typeface="Aptos"/>
              </a:defRPr>
            </a:pPr>
            <a:r>
              <a:t>π(a|s) = 0.25  for every action a in every non-terminal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47548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23303F"/>
                </a:solidFill>
                <a:latin typeface="Aptos"/>
              </a:defRPr>
            </a:pPr>
            <a:r>
              <a:t>Bellman expectation equation: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1078992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23303F"/>
                </a:solidFill>
                <a:latin typeface="Aptos"/>
              </a:defRPr>
            </a:pPr>
            <a:r>
              <a:t>Vπ(s) = Σa π(a|s) Σs′ P(s′|s,a) [R(s,a,s′) + γVπ(s′)]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862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303F"/>
                </a:solidFill>
                <a:latin typeface="Aptos"/>
              </a:defRPr>
            </a:pPr>
            <a:r>
              <a:t>• Initialize V₀(s) = 0.</a:t>
            </a:r>
          </a:p>
          <a:p>
            <a:pPr>
              <a:spcAft>
                <a:spcPts val="1200"/>
              </a:spcAft>
              <a:defRPr sz="1700">
                <a:solidFill>
                  <a:srgbClr val="23303F"/>
                </a:solidFill>
                <a:latin typeface="Aptos"/>
              </a:defRPr>
            </a:pPr>
            <a:r>
              <a:t>• Update all non-terminal states synchronously using the previous value vector.</a:t>
            </a:r>
          </a:p>
          <a:p>
            <a:pPr>
              <a:spcAft>
                <a:spcPts val="1200"/>
              </a:spcAft>
              <a:defRPr sz="1700">
                <a:solidFill>
                  <a:srgbClr val="23303F"/>
                </a:solidFill>
                <a:latin typeface="Aptos"/>
              </a:defRPr>
            </a:pPr>
            <a:r>
              <a:t>• Stop when Δ = maxₛ |Vnew(s) − V(s)| &lt; 10⁻⁸.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rIns="228600"/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Part 2 — Manual iterations for state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2296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978"/>
                </a:solidFill>
              </a:defRPr>
            </a:pPr>
            <a:r>
              <a:t>State 2 is adjacent to hole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37960"/>
            <a:ext cx="11430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978"/>
                </a:solidFill>
              </a:defRPr>
            </a:pPr>
            <a:r>
              <a:t>RL Assignment 1 • Kavya Namburi • BT23CSE004                                     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99691"/>
                </a:solidFill>
                <a:latin typeface="Aptos"/>
              </a:defRPr>
            </a:pPr>
            <a:r>
              <a:t>Q₀(2, Left) = 0.25(−1) + 0.75(−0.01) = −0.2575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23303F"/>
                </a:solidFill>
                <a:latin typeface="Aptos"/>
              </a:defRPr>
            </a:pPr>
            <a:r>
              <a:t>Q₀(2, Down) = Q₀(2, Right) = Q₀(2, Up) = −0.01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43200"/>
            <a:ext cx="1097280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23303F"/>
                </a:solidFill>
                <a:latin typeface="Aptos"/>
              </a:defRPr>
            </a:pPr>
            <a:r>
              <a:t>V₁(2) = ¼[−0.2575 − 0.01 − 0.01 − 0.01] = −0.071875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57600"/>
            <a:ext cx="2743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3303F"/>
                </a:solidFill>
                <a:latin typeface="Aptos"/>
              </a:defRPr>
            </a:pPr>
            <a:r>
              <a:t>Second sweep: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69080"/>
            <a:ext cx="1097280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3303F"/>
                </a:solidFill>
                <a:latin typeface="Aptos"/>
              </a:defRPr>
            </a:pPr>
            <a:r>
              <a:t>Q₁(2,Left) = 0.25(−1) + 0.75[−0.01 + 0.9(−0.071875)] = −0.306015625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709160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3303F"/>
                </a:solidFill>
                <a:latin typeface="Aptos"/>
              </a:defRPr>
            </a:pPr>
            <a:r>
              <a:t>Q₁(2,Down) = Q₁(2,Right) = Q₁(2,Up) = −0.0746875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349240"/>
            <a:ext cx="1097280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99691"/>
                </a:solidFill>
                <a:latin typeface="Aptos"/>
              </a:defRPr>
            </a:pPr>
            <a:r>
              <a:t>V₂(2) = ¼[−0.306015625 − 3(0.0746875)] = −0.13251953125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rIns="228600"/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Part 2 — Convergence plot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2296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978"/>
                </a:solidFill>
              </a:defRPr>
            </a:pPr>
            <a:r>
              <a:t>Maximum absolute change per sweep; logarithmic y-axis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37960"/>
            <a:ext cx="11430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978"/>
                </a:solidFill>
              </a:defRPr>
            </a:pPr>
            <a:r>
              <a:t>RL Assignment 1 • Kavya Namburi • BT23CSE004                                      9</a:t>
            </a:r>
          </a:p>
        </p:txBody>
      </p:sp>
      <p:pic>
        <p:nvPicPr>
          <p:cNvPr id="5" name="Picture 4" descr="RL_Assignment1_Convergence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234440"/>
            <a:ext cx="9966960" cy="58375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715000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99691"/>
                </a:solidFill>
                <a:latin typeface="Aptos"/>
              </a:defRPr>
            </a:pPr>
            <a:r>
              <a:t>Converged after 94 sweeps: final Δ = 8.540e-09 &lt; 10⁻⁸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rIns="228600"/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Part 2 — Converged Vπ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2296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978"/>
                </a:solidFill>
              </a:defRPr>
            </a:pPr>
            <a:r>
              <a:t>Uniform random policy, γ = 0.9, θ = 10⁻⁸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37960"/>
            <a:ext cx="11430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978"/>
                </a:solidFill>
              </a:defRPr>
            </a:pPr>
            <a:r>
              <a:t>RL Assignment 1 • Kavya Namburi • BT23CSE004                                    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7406640" cy="33832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23303F"/>
                </a:solidFill>
                <a:latin typeface="Consolas"/>
              </a:defRPr>
            </a:pPr>
            <a:r>
              <a:t>-0.4597    0.0000   -0.4573   -0.4593</a:t>
            </a:r>
          </a:p>
          <a:p>
            <a:pPr>
              <a:spcAft>
                <a:spcPts val="600"/>
              </a:spcAft>
              <a:defRPr sz="2200" b="1">
                <a:solidFill>
                  <a:srgbClr val="23303F"/>
                </a:solidFill>
                <a:latin typeface="Consolas"/>
              </a:defRPr>
            </a:pPr>
            <a:r>
              <a:t>-0.4590   -0.4556   -0.4477    0.0000</a:t>
            </a:r>
          </a:p>
          <a:p>
            <a:pPr>
              <a:spcAft>
                <a:spcPts val="600"/>
              </a:spcAft>
              <a:defRPr sz="2200" b="1">
                <a:solidFill>
                  <a:srgbClr val="23303F"/>
                </a:solidFill>
                <a:latin typeface="Consolas"/>
              </a:defRPr>
            </a:pPr>
            <a:r>
              <a:t> 0.0000   -0.4477   -0.3961   -0.1155</a:t>
            </a:r>
          </a:p>
          <a:p>
            <a:pPr>
              <a:spcAft>
                <a:spcPts val="600"/>
              </a:spcAft>
              <a:defRPr sz="2200" b="1">
                <a:solidFill>
                  <a:srgbClr val="23303F"/>
                </a:solidFill>
                <a:latin typeface="Consolas"/>
              </a:defRPr>
            </a:pPr>
            <a:r>
              <a:t>-0.4593   -0.4573    0.0000    0.0000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64592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3303F"/>
                </a:solidFill>
                <a:latin typeface="Aptos"/>
              </a:defRPr>
            </a:pPr>
            <a:r>
              <a:t>• Synchronous policy evaluation: 94 sweeps.</a:t>
            </a:r>
          </a:p>
          <a:p>
            <a:pPr>
              <a:spcAft>
                <a:spcPts val="1200"/>
              </a:spcAft>
              <a:defRPr sz="1500">
                <a:solidFill>
                  <a:srgbClr val="23303F"/>
                </a:solidFill>
                <a:latin typeface="Aptos"/>
              </a:defRPr>
            </a:pPr>
            <a:r>
              <a:t>• Most values are negative because ordinary steps are penalized and holes incur −1.</a:t>
            </a:r>
          </a:p>
          <a:p>
            <a:pPr>
              <a:spcAft>
                <a:spcPts val="1200"/>
              </a:spcAft>
              <a:defRPr sz="1500">
                <a:solidFill>
                  <a:srgbClr val="23303F"/>
                </a:solidFill>
                <a:latin typeface="Aptos"/>
              </a:defRPr>
            </a:pPr>
            <a:r>
              <a:t>• State 11 is relatively favorable because it is near the goal.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rIns="228600"/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Part 2 — Qπ(s,a), states 0–7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2296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978"/>
                </a:solidFill>
              </a:defRPr>
            </a:pPr>
            <a:r>
              <a:t>Columns: Left, Down, Right,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37960"/>
            <a:ext cx="11430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978"/>
                </a:solidFill>
              </a:defRPr>
            </a:pPr>
            <a:r>
              <a:t>RL Assignment 1 • Kavya Namburi • BT23CSE004                                      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1115568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  <a:gridCol w="1859280"/>
                <a:gridCol w="1859280"/>
                <a:gridCol w="1859280"/>
              </a:tblGrid>
              <a:tr h="5638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 anchor="ctr">
                    <a:solidFill>
                      <a:srgbClr val="1423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Cell</a:t>
                      </a:r>
                    </a:p>
                  </a:txBody>
                  <a:tcPr anchor="ctr">
                    <a:solidFill>
                      <a:srgbClr val="1423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Left</a:t>
                      </a:r>
                    </a:p>
                  </a:txBody>
                  <a:tcPr anchor="ctr">
                    <a:solidFill>
                      <a:srgbClr val="1423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Down</a:t>
                      </a:r>
                    </a:p>
                  </a:txBody>
                  <a:tcPr anchor="ctr">
                    <a:solidFill>
                      <a:srgbClr val="1423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Right</a:t>
                      </a:r>
                    </a:p>
                  </a:txBody>
                  <a:tcPr anchor="ctr">
                    <a:solidFill>
                      <a:srgbClr val="1423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Up</a:t>
                      </a:r>
                    </a:p>
                  </a:txBody>
                  <a:tcPr anchor="ctr">
                    <a:solidFill>
                      <a:srgbClr val="14233D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F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-0.4238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-0.4236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-0.5678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-0.4238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F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-0.5662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-0.4194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-0.4220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-0.4215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-0.4229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-0.5675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-0.4234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-0.4234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F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-0.4231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-0.5673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-0.4223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-0.4233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-0.4208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-0.4182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-0.4182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-0.5650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F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-0.4147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-0.4013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-0.5597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-0.4151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rIns="228600"/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Part 2 — Qπ(s,a), states 8–15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2296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978"/>
                </a:solidFill>
              </a:defRPr>
            </a:pPr>
            <a:r>
              <a:t>Columns: Left, Down, Right,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37960"/>
            <a:ext cx="11430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978"/>
                </a:solidFill>
              </a:defRPr>
            </a:pPr>
            <a:r>
              <a:t>RL Assignment 1 • Kavya Namburi • BT23CSE004                                      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1115568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  <a:gridCol w="1859280"/>
                <a:gridCol w="1859280"/>
                <a:gridCol w="1859280"/>
              </a:tblGrid>
              <a:tr h="5638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 anchor="ctr">
                    <a:solidFill>
                      <a:srgbClr val="1423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Cell</a:t>
                      </a:r>
                    </a:p>
                  </a:txBody>
                  <a:tcPr anchor="ctr">
                    <a:solidFill>
                      <a:srgbClr val="1423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Left</a:t>
                      </a:r>
                    </a:p>
                  </a:txBody>
                  <a:tcPr anchor="ctr">
                    <a:solidFill>
                      <a:srgbClr val="1423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Down</a:t>
                      </a:r>
                    </a:p>
                  </a:txBody>
                  <a:tcPr anchor="ctr">
                    <a:solidFill>
                      <a:srgbClr val="1423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Right</a:t>
                      </a:r>
                    </a:p>
                  </a:txBody>
                  <a:tcPr anchor="ctr">
                    <a:solidFill>
                      <a:srgbClr val="1423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Up</a:t>
                      </a:r>
                    </a:p>
                  </a:txBody>
                  <a:tcPr anchor="ctr">
                    <a:solidFill>
                      <a:srgbClr val="14233D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H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-0.5597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-0.4151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-0.4013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-0.4147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F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-0.3781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-0.5249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-0.3034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-0.3781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-0.1771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0.1646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-0.1139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-0.3354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F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-0.4234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-0.4234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-0.4229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-0.5675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-0.4220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-0.4215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-0.5662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-0.4194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H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303F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291072"/>
            <a:ext cx="109728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5A6978"/>
                </a:solidFill>
                <a:latin typeface="Aptos"/>
              </a:defRPr>
            </a:pPr>
            <a:r>
              <a:t>For terminal states, Q is displayed as zero by convention because no further action is taken.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rIns="228600"/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Part 3 — Policy iteration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2296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978"/>
                </a:solidFill>
              </a:defRPr>
            </a:pPr>
            <a:r>
              <a:t>Alternate evaluation and greedy improvement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37960"/>
            <a:ext cx="11430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978"/>
                </a:solidFill>
              </a:defRPr>
            </a:pPr>
            <a:r>
              <a:t>RL Assignment 1 • Kavya Namburi • BT23CSE004                                     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303F"/>
                </a:solidFill>
                <a:latin typeface="Aptos"/>
              </a:defRPr>
            </a:pPr>
            <a:r>
              <a:t>• Start from the uniform random policy.</a:t>
            </a:r>
          </a:p>
          <a:p>
            <a:pPr>
              <a:spcAft>
                <a:spcPts val="1200"/>
              </a:spcAft>
              <a:defRPr sz="1700">
                <a:solidFill>
                  <a:srgbClr val="23303F"/>
                </a:solidFill>
                <a:latin typeface="Aptos"/>
              </a:defRPr>
            </a:pPr>
            <a:r>
              <a:t>• Evaluate the current policy using the Bellman expectation equation.</a:t>
            </a:r>
          </a:p>
          <a:p>
            <a:pPr>
              <a:spcAft>
                <a:spcPts val="1200"/>
              </a:spcAft>
              <a:defRPr sz="1700">
                <a:solidFill>
                  <a:srgbClr val="23303F"/>
                </a:solidFill>
                <a:latin typeface="Aptos"/>
              </a:defRPr>
            </a:pPr>
            <a:r>
              <a:t>• Improve the policy using πnew(s) = argmaxₐ Qπ(s,a).</a:t>
            </a:r>
          </a:p>
          <a:p>
            <a:pPr>
              <a:spcAft>
                <a:spcPts val="1200"/>
              </a:spcAft>
              <a:defRPr sz="1700">
                <a:solidFill>
                  <a:srgbClr val="23303F"/>
                </a:solidFill>
                <a:latin typeface="Aptos"/>
              </a:defRPr>
            </a:pPr>
            <a:r>
              <a:t>• Repeat until the greedy improvement no longer changes the policy.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4114800"/>
          <a:ext cx="107899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5181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Evaluation</a:t>
                      </a:r>
                    </a:p>
                  </a:txBody>
                  <a:tcPr anchor="ctr">
                    <a:solidFill>
                      <a:srgbClr val="1423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Sweeps</a:t>
                      </a:r>
                    </a:p>
                  </a:txBody>
                  <a:tcPr anchor="ctr">
                    <a:solidFill>
                      <a:srgbClr val="1423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14233D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303F"/>
                          </a:solidFill>
                        </a:defRPr>
                      </a:pPr>
                      <a:r>
                        <a:t>Initial uniform policy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303F"/>
                          </a:solidFill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303F"/>
                          </a:solidFill>
                        </a:defRPr>
                      </a:pPr>
                      <a:r>
                        <a:t>Greedy improvement produces deterministic policy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303F"/>
                          </a:solidFill>
                        </a:defRPr>
                      </a:pPr>
                      <a:r>
                        <a:t>Improved policy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303F"/>
                          </a:solidFill>
                        </a:defRPr>
                      </a:pPr>
                      <a:r>
                        <a:t>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303F"/>
                          </a:solidFill>
                        </a:defRPr>
                      </a:pPr>
                      <a:r>
                        <a:t>Policy remains unchanged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rIns="228600"/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Part 3 — Stable optimal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2296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978"/>
                </a:solidFill>
              </a:defRPr>
            </a:pPr>
            <a:r>
              <a:t>L = Left, D = Down, R = Right, U =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37960"/>
            <a:ext cx="11430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978"/>
                </a:solidFill>
              </a:defRPr>
            </a:pPr>
            <a:r>
              <a:t>RL Assignment 1 • Kavya Namburi • BT23CSE004                                    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5943600" cy="3291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23303F"/>
                </a:solidFill>
                <a:latin typeface="Consolas"/>
              </a:defRPr>
            </a:pPr>
            <a:r>
              <a:t>D   H   D   L</a:t>
            </a:r>
          </a:p>
          <a:p>
            <a:pPr>
              <a:spcAft>
                <a:spcPts val="600"/>
              </a:spcAft>
              <a:defRPr sz="2500" b="1">
                <a:solidFill>
                  <a:srgbClr val="23303F"/>
                </a:solidFill>
                <a:latin typeface="Consolas"/>
              </a:defRPr>
            </a:pPr>
            <a:r>
              <a:t>R   D   D   H</a:t>
            </a:r>
          </a:p>
          <a:p>
            <a:pPr>
              <a:spcAft>
                <a:spcPts val="600"/>
              </a:spcAft>
              <a:defRPr sz="2500" b="1">
                <a:solidFill>
                  <a:srgbClr val="23303F"/>
                </a:solidFill>
                <a:latin typeface="Consolas"/>
              </a:defRPr>
            </a:pPr>
            <a:r>
              <a:t>H   R   R   D</a:t>
            </a:r>
          </a:p>
          <a:p>
            <a:pPr>
              <a:spcAft>
                <a:spcPts val="600"/>
              </a:spcAft>
              <a:defRPr sz="2500" b="1">
                <a:solidFill>
                  <a:srgbClr val="23303F"/>
                </a:solidFill>
                <a:latin typeface="Consolas"/>
              </a:defRPr>
            </a:pPr>
            <a:r>
              <a:t>R   U   H   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9164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303F"/>
                </a:solidFill>
                <a:latin typeface="Aptos"/>
              </a:defRPr>
            </a:pPr>
            <a:r>
              <a:t>• Policy iteration stabilizes after two improvement checks.</a:t>
            </a:r>
          </a:p>
          <a:p>
            <a:pPr>
              <a:spcAft>
                <a:spcPts val="1200"/>
              </a:spcAft>
              <a:defRPr sz="1600">
                <a:solidFill>
                  <a:srgbClr val="23303F"/>
                </a:solidFill>
                <a:latin typeface="Aptos"/>
              </a:defRPr>
            </a:pPr>
            <a:r>
              <a:t>• The second evaluation takes 72 sweeps at θ = 10⁻⁸.</a:t>
            </a:r>
          </a:p>
          <a:p>
            <a:pPr>
              <a:spcAft>
                <a:spcPts val="1200"/>
              </a:spcAft>
              <a:defRPr sz="1600">
                <a:solidFill>
                  <a:srgbClr val="23303F"/>
                </a:solidFill>
                <a:latin typeface="Aptos"/>
              </a:defRPr>
            </a:pPr>
            <a:r>
              <a:t>• Terminal-state actions are irrelevant.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rIns="228600"/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Part 3 — Value iteration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2296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978"/>
                </a:solidFill>
              </a:defRPr>
            </a:pPr>
            <a:r>
              <a:t>Bellman optimality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37960"/>
            <a:ext cx="11430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978"/>
                </a:solidFill>
              </a:defRPr>
            </a:pPr>
            <a:r>
              <a:t>RL Assignment 1 • Kavya Namburi • BT23CSE004                                     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1097280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99691"/>
                </a:solidFill>
                <a:latin typeface="Aptos"/>
              </a:defRPr>
            </a:pPr>
            <a:r>
              <a:t>Vₖ₊₁(s) = maxₐ Σs′ P(s′|s,a)[R(s,a,s′) + γVₖ(s′)]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96012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3303F"/>
                </a:solidFill>
                <a:latin typeface="Aptos"/>
              </a:defRPr>
            </a:pPr>
            <a:r>
              <a:t>Converged in 72 sweeps at θ = 10⁻⁸.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43200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3303F"/>
                </a:solidFill>
                <a:latin typeface="Aptos"/>
              </a:defRPr>
            </a:pPr>
            <a:r>
              <a:t>Optimal value function V*: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00400"/>
            <a:ext cx="7315200" cy="2286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23303F"/>
                </a:solidFill>
                <a:latin typeface="Consolas"/>
              </a:defRPr>
            </a:pPr>
            <a:r>
              <a:t> 0.0346    0.0000    0.1808    0.0944</a:t>
            </a:r>
          </a:p>
          <a:p>
            <a:pPr>
              <a:spcAft>
                <a:spcPts val="600"/>
              </a:spcAft>
              <a:defRPr sz="1900" b="0">
                <a:solidFill>
                  <a:srgbClr val="23303F"/>
                </a:solidFill>
                <a:latin typeface="Consolas"/>
              </a:defRPr>
            </a:pPr>
            <a:r>
              <a:t> 0.0944    0.1808    0.3056    0.0000</a:t>
            </a:r>
          </a:p>
          <a:p>
            <a:pPr>
              <a:spcAft>
                <a:spcPts val="600"/>
              </a:spcAft>
              <a:defRPr sz="1900" b="0">
                <a:solidFill>
                  <a:srgbClr val="23303F"/>
                </a:solidFill>
                <a:latin typeface="Consolas"/>
              </a:defRPr>
            </a:pPr>
            <a:r>
              <a:t> 0.0000    0.3056    0.4858    0.7462</a:t>
            </a:r>
          </a:p>
          <a:p>
            <a:pPr>
              <a:spcAft>
                <a:spcPts val="600"/>
              </a:spcAft>
              <a:defRPr sz="1900" b="0">
                <a:solidFill>
                  <a:srgbClr val="23303F"/>
                </a:solidFill>
                <a:latin typeface="Consolas"/>
              </a:defRPr>
            </a:pPr>
            <a:r>
              <a:t> 0.0944    0.1808    0.0000    0.0000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715000"/>
            <a:ext cx="1069848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99691"/>
                </a:solidFill>
                <a:latin typeface="Aptos"/>
              </a:defRPr>
            </a:pPr>
            <a:r>
              <a:t>Greedy policy extraction: π*(s) = argmaxₐ Q*(s,a).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rIns="228600"/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Part 3 — Contraction and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2296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978"/>
                </a:solidFill>
              </a:defRPr>
            </a:pPr>
            <a:r>
              <a:t>Why repeated Bellman updates converge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37960"/>
            <a:ext cx="11430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978"/>
                </a:solidFill>
              </a:defRPr>
            </a:pPr>
            <a:r>
              <a:t>RL Assignment 1 • Kavya Namburi • BT23CSE004                                     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96012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199691"/>
                </a:solidFill>
                <a:latin typeface="Aptos"/>
              </a:defRPr>
            </a:pPr>
            <a:r>
              <a:t>||TV − TU||∞ ≤ γ ||V − U||∞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303F"/>
                </a:solidFill>
                <a:latin typeface="Aptos"/>
              </a:defRPr>
            </a:pPr>
            <a:r>
              <a:t>• For bounded rewards and 0 ≤ γ &lt; 1, both Tπ and T are contractions.</a:t>
            </a:r>
          </a:p>
          <a:p>
            <a:pPr>
              <a:spcAft>
                <a:spcPts val="1200"/>
              </a:spcAft>
              <a:defRPr sz="1700">
                <a:solidFill>
                  <a:srgbClr val="23303F"/>
                </a:solidFill>
                <a:latin typeface="Aptos"/>
              </a:defRPr>
            </a:pPr>
            <a:r>
              <a:t>• Policy iteration explicitly evaluates a policy, then improves it; it often needs few improvement steps.</a:t>
            </a:r>
          </a:p>
          <a:p>
            <a:pPr>
              <a:spcAft>
                <a:spcPts val="1200"/>
              </a:spcAft>
              <a:defRPr sz="1700">
                <a:solidFill>
                  <a:srgbClr val="23303F"/>
                </a:solidFill>
                <a:latin typeface="Aptos"/>
              </a:defRPr>
            </a:pPr>
            <a:r>
              <a:t>• Value iteration combines optimal action selection with each value update and may need many sweeps.</a:t>
            </a:r>
          </a:p>
          <a:p>
            <a:pPr>
              <a:spcAft>
                <a:spcPts val="1200"/>
              </a:spcAft>
              <a:defRPr sz="1700">
                <a:solidFill>
                  <a:srgbClr val="23303F"/>
                </a:solidFill>
                <a:latin typeface="Aptos"/>
              </a:defRPr>
            </a:pPr>
            <a:r>
              <a:t>• Contraction guarantees convergence, but does not universally guarantee lower total runtime for policy iteration.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rIns="228600"/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Part 4 — Exact linear-system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2296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978"/>
                </a:solidFill>
              </a:defRPr>
            </a:pPr>
            <a:r>
              <a:t>Independent check of iterative policy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37960"/>
            <a:ext cx="11430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978"/>
                </a:solidFill>
              </a:defRPr>
            </a:pPr>
            <a:r>
              <a:t>RL Assignment 1 • Kavya Namburi • BT23CSE004                                     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731520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  <a:defRPr sz="2300" b="1">
                <a:solidFill>
                  <a:srgbClr val="199691"/>
                </a:solidFill>
                <a:latin typeface="Aptos"/>
              </a:defRPr>
            </a:pPr>
            <a:r>
              <a:t>Vπ = Rπ + γPπVπ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731520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  <a:defRPr sz="2200" b="0">
                <a:solidFill>
                  <a:srgbClr val="23303F"/>
                </a:solidFill>
                <a:latin typeface="Aptos"/>
              </a:defRPr>
            </a:pPr>
            <a:r>
              <a:t>(I − γPπ)Vπ = Rπ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731520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  <a:defRPr sz="2200" b="0">
                <a:solidFill>
                  <a:srgbClr val="23303F"/>
                </a:solidFill>
                <a:latin typeface="Aptos"/>
              </a:defRPr>
            </a:pPr>
            <a:r>
              <a:t>Vπ = (I − γPπ)⁻¹Rπ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10607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303F"/>
                </a:solidFill>
                <a:latin typeface="Aptos"/>
              </a:defRPr>
            </a:pPr>
            <a:r>
              <a:t>• Pπ(s,s′) = Σₐ π(a|s)P(s′|s,a).</a:t>
            </a:r>
          </a:p>
          <a:p>
            <a:pPr>
              <a:spcAft>
                <a:spcPts val="1200"/>
              </a:spcAft>
              <a:defRPr sz="1600">
                <a:solidFill>
                  <a:srgbClr val="23303F"/>
                </a:solidFill>
                <a:latin typeface="Aptos"/>
              </a:defRPr>
            </a:pPr>
            <a:r>
              <a:t>• Rπ(s) is the expected immediate reward under π.</a:t>
            </a:r>
          </a:p>
          <a:p>
            <a:pPr>
              <a:spcAft>
                <a:spcPts val="1200"/>
              </a:spcAft>
              <a:defRPr sz="1600">
                <a:solidFill>
                  <a:srgbClr val="23303F"/>
                </a:solidFill>
                <a:latin typeface="Aptos"/>
              </a:defRPr>
            </a:pPr>
            <a:r>
              <a:t>• In code, use np.linalg.solve(A, b) rather than explicitly forming an inverse.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669280"/>
            <a:ext cx="98755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99691"/>
                </a:solidFill>
                <a:latin typeface="Aptos"/>
              </a:defRPr>
            </a:pPr>
            <a:r>
              <a:t>Maximum absolute difference: 4.544e-08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rIns="228600"/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Part 4 — Why not solve huge matrices?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2296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978"/>
                </a:solidFill>
              </a:defRPr>
            </a:pPr>
            <a:r>
              <a:t>Scalability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37960"/>
            <a:ext cx="11430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978"/>
                </a:solidFill>
              </a:defRPr>
            </a:pPr>
            <a:r>
              <a:t>RL Assignment 1 • Kavya Namburi • BT23CSE004                                     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303F"/>
                </a:solidFill>
                <a:latin typeface="Aptos"/>
              </a:defRPr>
            </a:pPr>
            <a:r>
              <a:t>• A dense n×n transition matrix requires O(n²) memory.</a:t>
            </a:r>
          </a:p>
          <a:p>
            <a:pPr>
              <a:spcAft>
                <a:spcPts val="1200"/>
              </a:spcAft>
              <a:defRPr sz="1800">
                <a:solidFill>
                  <a:srgbClr val="23303F"/>
                </a:solidFill>
                <a:latin typeface="Aptos"/>
              </a:defRPr>
            </a:pPr>
            <a:r>
              <a:t>• A general dense linear-system solve typically requires O(n³) computation.</a:t>
            </a:r>
          </a:p>
          <a:p>
            <a:pPr>
              <a:spcAft>
                <a:spcPts val="1200"/>
              </a:spcAft>
              <a:defRPr sz="1800">
                <a:solidFill>
                  <a:srgbClr val="23303F"/>
                </a:solidFill>
                <a:latin typeface="Aptos"/>
              </a:defRPr>
            </a:pPr>
            <a:r>
              <a:t>• Large state spaces make a direct exact solve impractical.</a:t>
            </a:r>
          </a:p>
          <a:p>
            <a:pPr>
              <a:spcAft>
                <a:spcPts val="1200"/>
              </a:spcAft>
              <a:defRPr sz="1800">
                <a:solidFill>
                  <a:srgbClr val="23303F"/>
                </a:solidFill>
                <a:latin typeface="Aptos"/>
              </a:defRPr>
            </a:pPr>
            <a:r>
              <a:t>• Iterative updates, model-free sampling, sparse structure, and function approximation can scale better.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rIns="228600"/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Part 5 — Discount-factor experiments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2296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978"/>
                </a:solidFill>
              </a:defRPr>
            </a:pPr>
            <a:r>
              <a:t>Value iteration tolerance: 10⁻⁸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37960"/>
            <a:ext cx="11430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978"/>
                </a:solidFill>
              </a:defRPr>
            </a:pPr>
            <a:r>
              <a:t>RL Assignment 1 • Kavya Namburi • BT23CSE004                                      19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63040"/>
          <a:ext cx="111556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5715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γ</a:t>
                      </a:r>
                    </a:p>
                  </a:txBody>
                  <a:tcPr anchor="ctr">
                    <a:solidFill>
                      <a:srgbClr val="1423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Sweeps</a:t>
                      </a:r>
                    </a:p>
                  </a:txBody>
                  <a:tcPr anchor="ctr">
                    <a:solidFill>
                      <a:srgbClr val="1423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V*(0)</a:t>
                      </a:r>
                    </a:p>
                  </a:txBody>
                  <a:tcPr anchor="ctr">
                    <a:solidFill>
                      <a:srgbClr val="1423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Policy vs γ=0.9</a:t>
                      </a:r>
                    </a:p>
                  </a:txBody>
                  <a:tcPr anchor="ctr">
                    <a:solidFill>
                      <a:srgbClr val="14233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303F"/>
                          </a:solidFill>
                        </a:defRPr>
                      </a:pPr>
                      <a:r>
                        <a:t>0.5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303F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303F"/>
                          </a:solidFill>
                        </a:defRPr>
                      </a:pPr>
                      <a:r>
                        <a:t>-0.019869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303F"/>
                          </a:solidFill>
                        </a:defRPr>
                      </a:pPr>
                      <a:r>
                        <a:t>Same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303F"/>
                          </a:solidFill>
                        </a:defRPr>
                      </a:pPr>
                      <a:r>
                        <a:t>0.9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303F"/>
                          </a:solidFill>
                        </a:defRPr>
                      </a:pPr>
                      <a:r>
                        <a:t>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303F"/>
                          </a:solidFill>
                        </a:defRPr>
                      </a:pPr>
                      <a:r>
                        <a:t>0.034569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303F"/>
                          </a:solidFill>
                        </a:defRPr>
                      </a:pPr>
                      <a:r>
                        <a:t>Same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303F"/>
                          </a:solidFill>
                        </a:defRPr>
                      </a:pPr>
                      <a:r>
                        <a:t>0.999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303F"/>
                          </a:solidFill>
                        </a:defRPr>
                      </a:pPr>
                      <a:r>
                        <a:t>105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303F"/>
                          </a:solidFill>
                        </a:defRPr>
                      </a:pPr>
                      <a:r>
                        <a:t>0.750150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303F"/>
                          </a:solidFill>
                        </a:defRPr>
                      </a:pPr>
                      <a:r>
                        <a:t>Same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0690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3303F"/>
                </a:solidFill>
                <a:latin typeface="Aptos"/>
              </a:defRPr>
            </a:pPr>
            <a:r>
              <a:t>• γ = 0: only immediate reward matters; the agent is myopic.</a:t>
            </a:r>
          </a:p>
          <a:p>
            <a:pPr>
              <a:spcAft>
                <a:spcPts val="1200"/>
              </a:spcAft>
              <a:defRPr sz="1500">
                <a:solidFill>
                  <a:srgbClr val="23303F"/>
                </a:solidFill>
                <a:latin typeface="Aptos"/>
              </a:defRPr>
            </a:pPr>
            <a:r>
              <a:t>• As γ increases, future rewards receive more weight.</a:t>
            </a:r>
          </a:p>
          <a:p>
            <a:pPr>
              <a:spcAft>
                <a:spcPts val="1200"/>
              </a:spcAft>
              <a:defRPr sz="1500">
                <a:solidFill>
                  <a:srgbClr val="23303F"/>
                </a:solidFill>
                <a:latin typeface="Aptos"/>
              </a:defRPr>
            </a:pPr>
            <a:r>
              <a:t>• The contraction bound becomes weaker as γ approaches 1, so convergence can slow.</a:t>
            </a:r>
          </a:p>
          <a:p>
            <a:pPr>
              <a:spcAft>
                <a:spcPts val="1200"/>
              </a:spcAft>
              <a:defRPr sz="1500">
                <a:solidFill>
                  <a:srgbClr val="23303F"/>
                </a:solidFill>
                <a:latin typeface="Aptos"/>
              </a:defRPr>
            </a:pPr>
            <a:r>
              <a:t>• At γ = 1, the usual discounted-MDP contraction guarantee does not apply.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Part 5 — Effect of the living reward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3210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978"/>
                </a:solidFill>
                <a:latin typeface="Aptos"/>
              </a:defRPr>
            </a:pPr>
            <a:r>
              <a:t>What changes when the ordinary-step reward changes?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417320"/>
          <a:ext cx="1097280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419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Living reward</a:t>
                      </a:r>
                    </a:p>
                  </a:txBody>
                  <a:tcPr anchor="ctr">
                    <a:solidFill>
                      <a:srgbClr val="1423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Sweeps</a:t>
                      </a:r>
                    </a:p>
                  </a:txBody>
                  <a:tcPr anchor="ctr">
                    <a:solidFill>
                      <a:srgbClr val="1423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V*(start state 0)</a:t>
                      </a:r>
                    </a:p>
                  </a:txBody>
                  <a:tcPr anchor="ctr">
                    <a:solidFill>
                      <a:srgbClr val="14233D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303F"/>
                          </a:solidFill>
                          <a:latin typeface="Aptos"/>
                        </a:defRPr>
                      </a:pPr>
                      <a:r>
                        <a:t>−0.01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303F"/>
                          </a:solidFill>
                          <a:latin typeface="Aptos"/>
                        </a:defRPr>
                      </a:pPr>
                      <a:r>
                        <a:t>72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303F"/>
                          </a:solidFill>
                          <a:latin typeface="Aptos"/>
                        </a:defRPr>
                      </a:pPr>
                      <a:r>
                        <a:t>0.034569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303F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303F"/>
                          </a:solidFill>
                          <a:latin typeface="Aptos"/>
                        </a:defRPr>
                      </a:pPr>
                      <a:r>
                        <a:t>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303F"/>
                          </a:solidFill>
                          <a:latin typeface="Aptos"/>
                        </a:defRPr>
                      </a:pPr>
                      <a:r>
                        <a:t>0.122335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2971800"/>
            <a:ext cx="5212080" cy="38404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199691"/>
                </a:solidFill>
                <a:latin typeface="Aptos"/>
              </a:defRPr>
            </a:pPr>
            <a:r>
              <a:t>When the living reward is −0.01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429000"/>
            <a:ext cx="5212080" cy="205740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303F"/>
                </a:solidFill>
                <a:latin typeface="Aptos"/>
              </a:defRPr>
            </a:pPr>
            <a:r>
              <a:t>• Each ordinary move or stay costs 0.01 reward, so unnecessary delay lowers the return.</a:t>
            </a:r>
          </a:p>
          <a:p>
            <a:pPr>
              <a:spcAft>
                <a:spcPts val="1000"/>
              </a:spcAft>
              <a:defRPr sz="1500">
                <a:solidFill>
                  <a:srgbClr val="23303F"/>
                </a:solidFill>
                <a:latin typeface="Aptos"/>
              </a:defRPr>
            </a:pPr>
            <a:r>
              <a:t>• The agent is encouraged to reach the goal efficiently while avoiding holes.</a:t>
            </a:r>
          </a:p>
          <a:p>
            <a:pPr>
              <a:spcAft>
                <a:spcPts val="1000"/>
              </a:spcAft>
              <a:defRPr sz="1500">
                <a:solidFill>
                  <a:srgbClr val="23303F"/>
                </a:solidFill>
                <a:latin typeface="Aptos"/>
              </a:defRPr>
            </a:pPr>
            <a:r>
              <a:t>• The start-state optimal value is 0.034569 under this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2971800"/>
            <a:ext cx="5212080" cy="38404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199691"/>
                </a:solidFill>
                <a:latin typeface="Aptos"/>
              </a:defRPr>
            </a:pPr>
            <a:r>
              <a:t>When the living reward is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3429000"/>
            <a:ext cx="5303520" cy="224028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303F"/>
                </a:solidFill>
                <a:latin typeface="Aptos"/>
              </a:defRPr>
            </a:pPr>
            <a:r>
              <a:t>• Ordinary moves and stays carry no penalty; only the goal (+1) and holes (−1) provide non-zero rewards.</a:t>
            </a:r>
          </a:p>
          <a:p>
            <a:pPr>
              <a:spcAft>
                <a:spcPts val="1000"/>
              </a:spcAft>
              <a:defRPr sz="1500">
                <a:solidFill>
                  <a:srgbClr val="23303F"/>
                </a:solidFill>
                <a:latin typeface="Aptos"/>
              </a:defRPr>
            </a:pPr>
            <a:r>
              <a:t>• The start-state value rises to 0.122335 because ordinary steps no longer reduce return.</a:t>
            </a:r>
          </a:p>
          <a:p>
            <a:pPr>
              <a:spcAft>
                <a:spcPts val="1000"/>
              </a:spcAft>
              <a:defRPr sz="1500">
                <a:solidFill>
                  <a:srgbClr val="23303F"/>
                </a:solidFill>
                <a:latin typeface="Aptos"/>
              </a:defRPr>
            </a:pPr>
            <a:r>
              <a:t>• The optimal policy happens to stay the same in this grid; this is not guaranteed for every MDP.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897880"/>
            <a:ext cx="10881360" cy="4114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23303F"/>
                </a:solidFill>
                <a:latin typeface="Aptos"/>
              </a:defRPr>
            </a:pPr>
            <a:r>
              <a:t>Interpretation: removing the step cost makes taking extra time less costly, but the best action still depends on transition probabilities and terminal rewards.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978"/>
                </a:solidFill>
                <a:latin typeface="Aptos"/>
              </a:defRPr>
            </a:pPr>
            <a:r>
              <a:t>RL Assignment 1 • Kavya Namburi • BT23CSE004                                    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rIns="228600"/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Conclusion and reproducibility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2296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978"/>
                </a:solidFill>
              </a:defRPr>
            </a:pPr>
            <a:r>
              <a:t>All assignment questions are addressed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37960"/>
            <a:ext cx="11430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978"/>
                </a:solidFill>
              </a:defRPr>
            </a:pPr>
            <a:r>
              <a:rPr sz="800">
                <a:solidFill>
                  <a:srgbClr val="5A6978"/>
                </a:solidFill>
              </a:rPr>
              <a:t>RL Assignment 1 • Kavya Namburi • BT23CSE004                                                                          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303F"/>
                </a:solidFill>
                <a:latin typeface="Aptos"/>
              </a:defRPr>
            </a:pPr>
            <a:r>
              <a:t>• Part 1: MDP defined; transition-model assumption disclosed.</a:t>
            </a:r>
          </a:p>
          <a:p>
            <a:pPr>
              <a:spcAft>
                <a:spcPts val="1200"/>
              </a:spcAft>
              <a:defRPr sz="1600">
                <a:solidFill>
                  <a:srgbClr val="23303F"/>
                </a:solidFill>
                <a:latin typeface="Aptos"/>
              </a:defRPr>
            </a:pPr>
            <a:r>
              <a:t>• Part 2: uniform-policy evaluation, manual checks, convergence plot, and all Qπ entries.</a:t>
            </a:r>
          </a:p>
          <a:p>
            <a:pPr>
              <a:spcAft>
                <a:spcPts val="1200"/>
              </a:spcAft>
              <a:defRPr sz="1600">
                <a:solidFill>
                  <a:srgbClr val="23303F"/>
                </a:solidFill>
                <a:latin typeface="Aptos"/>
              </a:defRPr>
            </a:pPr>
            <a:r>
              <a:t>• Part 3: policy iteration and value iteration yield the same greedy policy.</a:t>
            </a:r>
          </a:p>
          <a:p>
            <a:pPr>
              <a:spcAft>
                <a:spcPts val="1200"/>
              </a:spcAft>
              <a:defRPr sz="1600">
                <a:solidFill>
                  <a:srgbClr val="23303F"/>
                </a:solidFill>
                <a:latin typeface="Aptos"/>
              </a:defRPr>
            </a:pPr>
            <a:r>
              <a:t>• Part 4: exact linear-system solution verifies iterative evaluation.</a:t>
            </a:r>
          </a:p>
          <a:p>
            <a:pPr>
              <a:spcAft>
                <a:spcPts val="1200"/>
              </a:spcAft>
              <a:defRPr sz="1600">
                <a:solidFill>
                  <a:srgbClr val="23303F"/>
                </a:solidFill>
                <a:latin typeface="Aptos"/>
              </a:defRPr>
            </a:pPr>
            <a:r>
              <a:t>• Part 5: discount factor, living reward, and model-free learning discussed.</a:t>
            </a:r>
          </a:p>
          <a:p>
            <a:pPr>
              <a:spcAft>
                <a:spcPts val="1200"/>
              </a:spcAft>
              <a:defRPr sz="1600">
                <a:solidFill>
                  <a:srgbClr val="23303F"/>
                </a:solidFill>
                <a:latin typeface="Aptos"/>
              </a:defRPr>
            </a:pPr>
            <a:r>
              <a:t>• Use the accompanying rl_assignment1.py to reproduce the numerical results and plot.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760720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99691"/>
                </a:solidFill>
                <a:latin typeface="Aptos"/>
              </a:defRPr>
            </a:pPr>
            <a:r>
              <a:t>Fixed settings: γ = 0.9, θ = 10⁻⁸, synchronous updates, intended=0.25, stay=0.75.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Part 5 — When P and R are unknown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3210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978"/>
                </a:solidFill>
                <a:latin typeface="Aptos"/>
              </a:defRPr>
            </a:pPr>
            <a:r>
              <a:t>Model-free reinforcement learning learns from experience rather than a known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98448"/>
            <a:ext cx="5212080" cy="38404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199691"/>
                </a:solidFill>
                <a:latin typeface="Aptos"/>
              </a:defRPr>
            </a:pPr>
            <a:r>
              <a:t>What does “unknown model” mean?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5257800" cy="251460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3303F"/>
                </a:solidFill>
                <a:latin typeface="Aptos"/>
              </a:defRPr>
            </a:pPr>
            <a:r>
              <a:t>• The agent does not know the transition probabilities P(s′|s,a) or reward function R(s,a,s′) in advance.</a:t>
            </a:r>
          </a:p>
          <a:p>
            <a:pPr>
              <a:spcAft>
                <a:spcPts val="1000"/>
              </a:spcAft>
              <a:defRPr sz="1400">
                <a:solidFill>
                  <a:srgbClr val="23303F"/>
                </a:solidFill>
                <a:latin typeface="Aptos"/>
              </a:defRPr>
            </a:pPr>
            <a:r>
              <a:t>• It interacts with the environment and records experience tuples (s, a, r, s′).</a:t>
            </a:r>
          </a:p>
          <a:p>
            <a:pPr>
              <a:spcAft>
                <a:spcPts val="1000"/>
              </a:spcAft>
              <a:defRPr sz="1400">
                <a:solidFill>
                  <a:srgbClr val="23303F"/>
                </a:solidFill>
                <a:latin typeface="Aptos"/>
              </a:defRPr>
            </a:pPr>
            <a:r>
              <a:t>• It updates value estimates directly from observed rewards and next states instead of calculating exact expectations from a complete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298448"/>
            <a:ext cx="5212080" cy="38404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199691"/>
                </a:solidFill>
                <a:latin typeface="Aptos"/>
              </a:defRPr>
            </a:pPr>
            <a:r>
              <a:t>Main model-free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737360"/>
            <a:ext cx="5349240" cy="260604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3303F"/>
                </a:solidFill>
                <a:latin typeface="Aptos"/>
              </a:defRPr>
            </a:pPr>
            <a:r>
              <a:t>• TD(0) — updates a state-value estimate V(s) toward r + γV(s′); commonly used to evaluate a policy.</a:t>
            </a:r>
          </a:p>
          <a:p>
            <a:pPr>
              <a:spcAft>
                <a:spcPts val="1000"/>
              </a:spcAft>
              <a:defRPr sz="1400">
                <a:solidFill>
                  <a:srgbClr val="23303F"/>
                </a:solidFill>
                <a:latin typeface="Aptos"/>
              </a:defRPr>
            </a:pPr>
            <a:r>
              <a:t>• Q-learning — updates Q(s,a) toward r + γ maxₐ′ Q(s′,a′); off-policy control that learns toward the greedy optimal action.</a:t>
            </a:r>
          </a:p>
          <a:p>
            <a:pPr>
              <a:spcAft>
                <a:spcPts val="1000"/>
              </a:spcAft>
              <a:defRPr sz="1400">
                <a:solidFill>
                  <a:srgbClr val="23303F"/>
                </a:solidFill>
                <a:latin typeface="Aptos"/>
              </a:defRPr>
            </a:pPr>
            <a:r>
              <a:t>• SARSA — updates Q(s,a) toward r + γQ(s′,a′); on-policy control using the next action actually selected.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617720"/>
            <a:ext cx="3200400" cy="38404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99691"/>
                </a:solidFill>
                <a:latin typeface="Aptos"/>
              </a:defRPr>
            </a:pPr>
            <a:r>
              <a:t>How the agent explores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029200"/>
            <a:ext cx="10972800" cy="109728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3303F"/>
                </a:solidFill>
                <a:latin typeface="Aptos"/>
              </a:defRPr>
            </a:pPr>
            <a:r>
              <a:t>• ε-greedy: choose a random action with probability ε; otherwise choose the action with the highest current Q-value.</a:t>
            </a:r>
          </a:p>
          <a:p>
            <a:pPr>
              <a:spcAft>
                <a:spcPts val="1000"/>
              </a:spcAft>
              <a:defRPr sz="1400">
                <a:solidFill>
                  <a:srgbClr val="23303F"/>
                </a:solidFill>
                <a:latin typeface="Aptos"/>
              </a:defRPr>
            </a:pPr>
            <a:r>
              <a:t>• Exploration discovers alternatives; exploitation uses what the agent has learned. ε is often reduced gradually as learning progresses.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172200"/>
            <a:ext cx="10972800" cy="29260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23303F"/>
                </a:solidFill>
                <a:latin typeface="Aptos"/>
              </a:defRPr>
            </a:pPr>
            <a:r>
              <a:t>Q-learning: Q(s,a) ← Q(s,a) + α[r + γ maxₐ′ Q(s′,a′) − Q(s,a)]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3796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978"/>
                </a:solidFill>
                <a:latin typeface="Aptos"/>
              </a:defRPr>
            </a:pPr>
            <a:r>
              <a:t>RL Assignment 1 • Kavya Namburi • BT23CSE004                                     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